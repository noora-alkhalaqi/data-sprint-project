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Poppins Bold" charset="1" panose="00000800000000000000"/>
      <p:regular r:id="rId39"/>
    </p:embeddedFont>
    <p:embeddedFont>
      <p:font typeface="Agrandir Bold" charset="1" panose="00000800000000000000"/>
      <p:regular r:id="rId40"/>
    </p:embeddedFont>
    <p:embeddedFont>
      <p:font typeface="Agrandir" charset="1" panose="000005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58248" y="-1592102"/>
            <a:ext cx="6219749" cy="6219749"/>
          </a:xfrm>
          <a:custGeom>
            <a:avLst/>
            <a:gdLst/>
            <a:ahLst/>
            <a:cxnLst/>
            <a:rect r="r" b="b" t="t" l="l"/>
            <a:pathLst>
              <a:path h="6219749" w="6219749">
                <a:moveTo>
                  <a:pt x="0" y="0"/>
                </a:moveTo>
                <a:lnTo>
                  <a:pt x="6219749" y="0"/>
                </a:lnTo>
                <a:lnTo>
                  <a:pt x="6219749" y="6219749"/>
                </a:lnTo>
                <a:lnTo>
                  <a:pt x="0" y="6219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36865" y="1641409"/>
            <a:ext cx="6179500" cy="6600956"/>
            <a:chOff x="0" y="0"/>
            <a:chExt cx="1124862" cy="12015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4862" cy="1201581"/>
            </a:xfrm>
            <a:custGeom>
              <a:avLst/>
              <a:gdLst/>
              <a:ahLst/>
              <a:cxnLst/>
              <a:rect r="r" b="b" t="t" l="l"/>
              <a:pathLst>
                <a:path h="1201581" w="1124862">
                  <a:moveTo>
                    <a:pt x="50114" y="0"/>
                  </a:moveTo>
                  <a:lnTo>
                    <a:pt x="1074749" y="0"/>
                  </a:lnTo>
                  <a:cubicBezTo>
                    <a:pt x="1088040" y="0"/>
                    <a:pt x="1100786" y="5280"/>
                    <a:pt x="1110185" y="14678"/>
                  </a:cubicBezTo>
                  <a:cubicBezTo>
                    <a:pt x="1119583" y="24076"/>
                    <a:pt x="1124862" y="36823"/>
                    <a:pt x="1124862" y="50114"/>
                  </a:cubicBezTo>
                  <a:lnTo>
                    <a:pt x="1124862" y="1151467"/>
                  </a:lnTo>
                  <a:cubicBezTo>
                    <a:pt x="1124862" y="1164758"/>
                    <a:pt x="1119583" y="1177505"/>
                    <a:pt x="1110185" y="1186903"/>
                  </a:cubicBezTo>
                  <a:cubicBezTo>
                    <a:pt x="1100786" y="1196301"/>
                    <a:pt x="1088040" y="1201581"/>
                    <a:pt x="1074749" y="1201581"/>
                  </a:cubicBezTo>
                  <a:lnTo>
                    <a:pt x="50114" y="1201581"/>
                  </a:lnTo>
                  <a:cubicBezTo>
                    <a:pt x="36823" y="1201581"/>
                    <a:pt x="24076" y="1196301"/>
                    <a:pt x="14678" y="1186903"/>
                  </a:cubicBezTo>
                  <a:cubicBezTo>
                    <a:pt x="5280" y="1177505"/>
                    <a:pt x="0" y="1164758"/>
                    <a:pt x="0" y="1151467"/>
                  </a:cubicBezTo>
                  <a:lnTo>
                    <a:pt x="0" y="50114"/>
                  </a:lnTo>
                  <a:cubicBezTo>
                    <a:pt x="0" y="36823"/>
                    <a:pt x="5280" y="24076"/>
                    <a:pt x="14678" y="14678"/>
                  </a:cubicBezTo>
                  <a:cubicBezTo>
                    <a:pt x="24076" y="5280"/>
                    <a:pt x="36823" y="0"/>
                    <a:pt x="50114" y="0"/>
                  </a:cubicBezTo>
                  <a:close/>
                </a:path>
              </a:pathLst>
            </a:custGeom>
            <a:blipFill>
              <a:blip r:embed="rId4"/>
              <a:stretch>
                <a:fillRect l="-31854" t="0" r="-31854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10314" y="1129909"/>
            <a:ext cx="6742949" cy="9157091"/>
          </a:xfrm>
          <a:custGeom>
            <a:avLst/>
            <a:gdLst/>
            <a:ahLst/>
            <a:cxnLst/>
            <a:rect r="r" b="b" t="t" l="l"/>
            <a:pathLst>
              <a:path h="9157091" w="6742949">
                <a:moveTo>
                  <a:pt x="0" y="0"/>
                </a:moveTo>
                <a:lnTo>
                  <a:pt x="6742949" y="0"/>
                </a:lnTo>
                <a:lnTo>
                  <a:pt x="6742949" y="9157091"/>
                </a:lnTo>
                <a:lnTo>
                  <a:pt x="0" y="9157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7678111"/>
            <a:ext cx="787079" cy="787079"/>
          </a:xfrm>
          <a:custGeom>
            <a:avLst/>
            <a:gdLst/>
            <a:ahLst/>
            <a:cxnLst/>
            <a:rect r="r" b="b" t="t" l="l"/>
            <a:pathLst>
              <a:path h="787079" w="787079">
                <a:moveTo>
                  <a:pt x="0" y="0"/>
                </a:moveTo>
                <a:lnTo>
                  <a:pt x="787079" y="0"/>
                </a:lnTo>
                <a:lnTo>
                  <a:pt x="787079" y="787079"/>
                </a:lnTo>
                <a:lnTo>
                  <a:pt x="0" y="7870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25330" y="7678111"/>
            <a:ext cx="6530173" cy="651146"/>
            <a:chOff x="0" y="0"/>
            <a:chExt cx="1719881" cy="1714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19881" cy="171495"/>
            </a:xfrm>
            <a:custGeom>
              <a:avLst/>
              <a:gdLst/>
              <a:ahLst/>
              <a:cxnLst/>
              <a:rect r="r" b="b" t="t" l="l"/>
              <a:pathLst>
                <a:path h="171495" w="1719881">
                  <a:moveTo>
                    <a:pt x="60464" y="0"/>
                  </a:moveTo>
                  <a:lnTo>
                    <a:pt x="1659417" y="0"/>
                  </a:lnTo>
                  <a:cubicBezTo>
                    <a:pt x="1675453" y="0"/>
                    <a:pt x="1690832" y="6370"/>
                    <a:pt x="1702171" y="17709"/>
                  </a:cubicBezTo>
                  <a:cubicBezTo>
                    <a:pt x="1713511" y="29049"/>
                    <a:pt x="1719881" y="44428"/>
                    <a:pt x="1719881" y="60464"/>
                  </a:cubicBezTo>
                  <a:lnTo>
                    <a:pt x="1719881" y="111032"/>
                  </a:lnTo>
                  <a:cubicBezTo>
                    <a:pt x="1719881" y="127068"/>
                    <a:pt x="1713511" y="142447"/>
                    <a:pt x="1702171" y="153786"/>
                  </a:cubicBezTo>
                  <a:cubicBezTo>
                    <a:pt x="1690832" y="165125"/>
                    <a:pt x="1675453" y="171495"/>
                    <a:pt x="1659417" y="171495"/>
                  </a:cubicBezTo>
                  <a:lnTo>
                    <a:pt x="60464" y="171495"/>
                  </a:lnTo>
                  <a:cubicBezTo>
                    <a:pt x="44428" y="171495"/>
                    <a:pt x="29049" y="165125"/>
                    <a:pt x="17709" y="153786"/>
                  </a:cubicBezTo>
                  <a:cubicBezTo>
                    <a:pt x="6370" y="142447"/>
                    <a:pt x="0" y="127068"/>
                    <a:pt x="0" y="111032"/>
                  </a:cubicBezTo>
                  <a:lnTo>
                    <a:pt x="0" y="60464"/>
                  </a:lnTo>
                  <a:cubicBezTo>
                    <a:pt x="0" y="44428"/>
                    <a:pt x="6370" y="29049"/>
                    <a:pt x="17709" y="17709"/>
                  </a:cubicBezTo>
                  <a:cubicBezTo>
                    <a:pt x="29049" y="6370"/>
                    <a:pt x="44428" y="0"/>
                    <a:pt x="60464" y="0"/>
                  </a:cubicBezTo>
                  <a:close/>
                </a:path>
              </a:pathLst>
            </a:custGeom>
            <a:solidFill>
              <a:srgbClr val="F6CA4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19881" cy="238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47160" y="3316549"/>
            <a:ext cx="8712140" cy="3653902"/>
            <a:chOff x="0" y="0"/>
            <a:chExt cx="2294555" cy="9623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94555" cy="962345"/>
            </a:xfrm>
            <a:custGeom>
              <a:avLst/>
              <a:gdLst/>
              <a:ahLst/>
              <a:cxnLst/>
              <a:rect r="r" b="b" t="t" l="l"/>
              <a:pathLst>
                <a:path h="962345" w="2294555">
                  <a:moveTo>
                    <a:pt x="45320" y="0"/>
                  </a:moveTo>
                  <a:lnTo>
                    <a:pt x="2249235" y="0"/>
                  </a:lnTo>
                  <a:cubicBezTo>
                    <a:pt x="2261255" y="0"/>
                    <a:pt x="2272782" y="4775"/>
                    <a:pt x="2281281" y="13274"/>
                  </a:cubicBezTo>
                  <a:cubicBezTo>
                    <a:pt x="2289780" y="21773"/>
                    <a:pt x="2294555" y="33301"/>
                    <a:pt x="2294555" y="45320"/>
                  </a:cubicBezTo>
                  <a:lnTo>
                    <a:pt x="2294555" y="917024"/>
                  </a:lnTo>
                  <a:cubicBezTo>
                    <a:pt x="2294555" y="929044"/>
                    <a:pt x="2289780" y="940571"/>
                    <a:pt x="2281281" y="949071"/>
                  </a:cubicBezTo>
                  <a:cubicBezTo>
                    <a:pt x="2272782" y="957570"/>
                    <a:pt x="2261255" y="962345"/>
                    <a:pt x="2249235" y="962345"/>
                  </a:cubicBezTo>
                  <a:lnTo>
                    <a:pt x="45320" y="962345"/>
                  </a:lnTo>
                  <a:cubicBezTo>
                    <a:pt x="33301" y="962345"/>
                    <a:pt x="21773" y="957570"/>
                    <a:pt x="13274" y="949071"/>
                  </a:cubicBezTo>
                  <a:cubicBezTo>
                    <a:pt x="4775" y="940571"/>
                    <a:pt x="0" y="929044"/>
                    <a:pt x="0" y="917024"/>
                  </a:cubicBezTo>
                  <a:lnTo>
                    <a:pt x="0" y="45320"/>
                  </a:lnTo>
                  <a:cubicBezTo>
                    <a:pt x="0" y="33301"/>
                    <a:pt x="4775" y="21773"/>
                    <a:pt x="13274" y="13274"/>
                  </a:cubicBezTo>
                  <a:cubicBezTo>
                    <a:pt x="21773" y="4775"/>
                    <a:pt x="33301" y="0"/>
                    <a:pt x="45320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294555" cy="1029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254471" y="42035"/>
            <a:ext cx="3202063" cy="4114800"/>
          </a:xfrm>
          <a:custGeom>
            <a:avLst/>
            <a:gdLst/>
            <a:ahLst/>
            <a:cxnLst/>
            <a:rect r="r" b="b" t="t" l="l"/>
            <a:pathLst>
              <a:path h="4114800" w="3202063">
                <a:moveTo>
                  <a:pt x="0" y="0"/>
                </a:moveTo>
                <a:lnTo>
                  <a:pt x="3202063" y="0"/>
                </a:lnTo>
                <a:lnTo>
                  <a:pt x="32020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584283" y="7681220"/>
            <a:ext cx="5912843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By: Narrow Insights Analytics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47160" y="3733609"/>
            <a:ext cx="8546924" cy="2772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2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Ol</a:t>
            </a:r>
            <a:r>
              <a:rPr lang="en-US" b="true" sz="68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ist Shipping Company Evaluation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694691" y="8023533"/>
            <a:ext cx="6219749" cy="6219749"/>
          </a:xfrm>
          <a:custGeom>
            <a:avLst/>
            <a:gdLst/>
            <a:ahLst/>
            <a:cxnLst/>
            <a:rect r="r" b="b" t="t" l="l"/>
            <a:pathLst>
              <a:path h="6219749" w="6219749">
                <a:moveTo>
                  <a:pt x="0" y="0"/>
                </a:moveTo>
                <a:lnTo>
                  <a:pt x="6219749" y="0"/>
                </a:lnTo>
                <a:lnTo>
                  <a:pt x="6219749" y="6219749"/>
                </a:lnTo>
                <a:lnTo>
                  <a:pt x="0" y="6219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80307" y="4607917"/>
            <a:ext cx="7078993" cy="4220384"/>
            <a:chOff x="0" y="0"/>
            <a:chExt cx="1864426" cy="11115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4426" cy="1111541"/>
            </a:xfrm>
            <a:custGeom>
              <a:avLst/>
              <a:gdLst/>
              <a:ahLst/>
              <a:cxnLst/>
              <a:rect r="r" b="b" t="t" l="l"/>
              <a:pathLst>
                <a:path h="1111541" w="1864426">
                  <a:moveTo>
                    <a:pt x="55776" y="0"/>
                  </a:moveTo>
                  <a:lnTo>
                    <a:pt x="1808650" y="0"/>
                  </a:lnTo>
                  <a:cubicBezTo>
                    <a:pt x="1839454" y="0"/>
                    <a:pt x="1864426" y="24972"/>
                    <a:pt x="1864426" y="55776"/>
                  </a:cubicBezTo>
                  <a:lnTo>
                    <a:pt x="1864426" y="1055765"/>
                  </a:lnTo>
                  <a:cubicBezTo>
                    <a:pt x="1864426" y="1086570"/>
                    <a:pt x="1839454" y="1111541"/>
                    <a:pt x="1808650" y="1111541"/>
                  </a:cubicBezTo>
                  <a:lnTo>
                    <a:pt x="55776" y="1111541"/>
                  </a:lnTo>
                  <a:cubicBezTo>
                    <a:pt x="24972" y="1111541"/>
                    <a:pt x="0" y="1086570"/>
                    <a:pt x="0" y="1055765"/>
                  </a:cubicBezTo>
                  <a:lnTo>
                    <a:pt x="0" y="55776"/>
                  </a:lnTo>
                  <a:cubicBezTo>
                    <a:pt x="0" y="24972"/>
                    <a:pt x="24972" y="0"/>
                    <a:pt x="55776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864426" cy="1178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8897" y="1458699"/>
            <a:ext cx="4210206" cy="7369603"/>
            <a:chOff x="0" y="0"/>
            <a:chExt cx="639687" cy="11197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9687" cy="1119717"/>
            </a:xfrm>
            <a:custGeom>
              <a:avLst/>
              <a:gdLst/>
              <a:ahLst/>
              <a:cxnLst/>
              <a:rect r="r" b="b" t="t" l="l"/>
              <a:pathLst>
                <a:path h="1119717" w="639687">
                  <a:moveTo>
                    <a:pt x="95620" y="0"/>
                  </a:moveTo>
                  <a:lnTo>
                    <a:pt x="544067" y="0"/>
                  </a:lnTo>
                  <a:cubicBezTo>
                    <a:pt x="569427" y="0"/>
                    <a:pt x="593749" y="10074"/>
                    <a:pt x="611681" y="28006"/>
                  </a:cubicBezTo>
                  <a:cubicBezTo>
                    <a:pt x="629613" y="45939"/>
                    <a:pt x="639687" y="70260"/>
                    <a:pt x="639687" y="95620"/>
                  </a:cubicBezTo>
                  <a:lnTo>
                    <a:pt x="639687" y="1024097"/>
                  </a:lnTo>
                  <a:cubicBezTo>
                    <a:pt x="639687" y="1076907"/>
                    <a:pt x="596877" y="1119717"/>
                    <a:pt x="544067" y="1119717"/>
                  </a:cubicBezTo>
                  <a:lnTo>
                    <a:pt x="95620" y="1119717"/>
                  </a:lnTo>
                  <a:cubicBezTo>
                    <a:pt x="42811" y="1119717"/>
                    <a:pt x="0" y="1076907"/>
                    <a:pt x="0" y="1024097"/>
                  </a:cubicBezTo>
                  <a:lnTo>
                    <a:pt x="0" y="95620"/>
                  </a:lnTo>
                  <a:cubicBezTo>
                    <a:pt x="0" y="42811"/>
                    <a:pt x="42811" y="0"/>
                    <a:pt x="95620" y="0"/>
                  </a:cubicBezTo>
                  <a:close/>
                </a:path>
              </a:pathLst>
            </a:custGeom>
            <a:blipFill>
              <a:blip r:embed="rId2"/>
              <a:stretch>
                <a:fillRect l="-20016" t="0" r="-20016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76303" y="5434829"/>
            <a:ext cx="7315200" cy="4064363"/>
          </a:xfrm>
          <a:custGeom>
            <a:avLst/>
            <a:gdLst/>
            <a:ahLst/>
            <a:cxnLst/>
            <a:rect r="r" b="b" t="t" l="l"/>
            <a:pathLst>
              <a:path h="4064363" w="7315200">
                <a:moveTo>
                  <a:pt x="0" y="0"/>
                </a:moveTo>
                <a:lnTo>
                  <a:pt x="7315200" y="0"/>
                </a:lnTo>
                <a:lnTo>
                  <a:pt x="7315200" y="4064363"/>
                </a:lnTo>
                <a:lnTo>
                  <a:pt x="0" y="406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68251" y="-3846323"/>
            <a:ext cx="6219749" cy="6219749"/>
          </a:xfrm>
          <a:custGeom>
            <a:avLst/>
            <a:gdLst/>
            <a:ahLst/>
            <a:cxnLst/>
            <a:rect r="r" b="b" t="t" l="l"/>
            <a:pathLst>
              <a:path h="6219749" w="6219749">
                <a:moveTo>
                  <a:pt x="0" y="0"/>
                </a:moveTo>
                <a:lnTo>
                  <a:pt x="6219749" y="0"/>
                </a:lnTo>
                <a:lnTo>
                  <a:pt x="6219749" y="6219749"/>
                </a:lnTo>
                <a:lnTo>
                  <a:pt x="0" y="62197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14974" y="2653436"/>
            <a:ext cx="5428516" cy="1052274"/>
            <a:chOff x="0" y="0"/>
            <a:chExt cx="1946780" cy="377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46780" cy="377368"/>
            </a:xfrm>
            <a:custGeom>
              <a:avLst/>
              <a:gdLst/>
              <a:ahLst/>
              <a:cxnLst/>
              <a:rect r="r" b="b" t="t" l="l"/>
              <a:pathLst>
                <a:path h="377368" w="1946780">
                  <a:moveTo>
                    <a:pt x="72734" y="0"/>
                  </a:moveTo>
                  <a:lnTo>
                    <a:pt x="1874046" y="0"/>
                  </a:lnTo>
                  <a:cubicBezTo>
                    <a:pt x="1914216" y="0"/>
                    <a:pt x="1946780" y="32564"/>
                    <a:pt x="1946780" y="72734"/>
                  </a:cubicBezTo>
                  <a:lnTo>
                    <a:pt x="1946780" y="304634"/>
                  </a:lnTo>
                  <a:cubicBezTo>
                    <a:pt x="1946780" y="323924"/>
                    <a:pt x="1939117" y="342424"/>
                    <a:pt x="1925477" y="356064"/>
                  </a:cubicBezTo>
                  <a:cubicBezTo>
                    <a:pt x="1911837" y="369705"/>
                    <a:pt x="1893337" y="377368"/>
                    <a:pt x="1874046" y="377368"/>
                  </a:cubicBezTo>
                  <a:lnTo>
                    <a:pt x="72734" y="377368"/>
                  </a:lnTo>
                  <a:cubicBezTo>
                    <a:pt x="32564" y="377368"/>
                    <a:pt x="0" y="344804"/>
                    <a:pt x="0" y="304634"/>
                  </a:cubicBezTo>
                  <a:lnTo>
                    <a:pt x="0" y="72734"/>
                  </a:lnTo>
                  <a:cubicBezTo>
                    <a:pt x="0" y="32564"/>
                    <a:pt x="32564" y="0"/>
                    <a:pt x="72734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946780" cy="444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80007" y="2763264"/>
            <a:ext cx="4098449" cy="79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3"/>
              </a:lnSpc>
            </a:pPr>
            <a:r>
              <a:rPr lang="en-US" sz="4993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Introduction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296728" y="5143500"/>
            <a:ext cx="5726682" cy="3373536"/>
          </a:xfrm>
          <a:custGeom>
            <a:avLst/>
            <a:gdLst/>
            <a:ahLst/>
            <a:cxnLst/>
            <a:rect r="r" b="b" t="t" l="l"/>
            <a:pathLst>
              <a:path h="3373536" w="5726682">
                <a:moveTo>
                  <a:pt x="0" y="0"/>
                </a:moveTo>
                <a:lnTo>
                  <a:pt x="5726682" y="0"/>
                </a:lnTo>
                <a:lnTo>
                  <a:pt x="5726682" y="3373536"/>
                </a:lnTo>
                <a:lnTo>
                  <a:pt x="0" y="33735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88442" y="1880884"/>
            <a:ext cx="10448840" cy="8406116"/>
          </a:xfrm>
          <a:custGeom>
            <a:avLst/>
            <a:gdLst/>
            <a:ahLst/>
            <a:cxnLst/>
            <a:rect r="r" b="b" t="t" l="l"/>
            <a:pathLst>
              <a:path h="8406116" w="10448840">
                <a:moveTo>
                  <a:pt x="0" y="0"/>
                </a:moveTo>
                <a:lnTo>
                  <a:pt x="10448840" y="0"/>
                </a:lnTo>
                <a:lnTo>
                  <a:pt x="10448840" y="8406116"/>
                </a:lnTo>
                <a:lnTo>
                  <a:pt x="0" y="8406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7692" y="443682"/>
            <a:ext cx="15351608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well is 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Olist’s shipping partner performing in terms of timeliness?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84326" y="1807913"/>
            <a:ext cx="10836882" cy="8323804"/>
          </a:xfrm>
          <a:custGeom>
            <a:avLst/>
            <a:gdLst/>
            <a:ahLst/>
            <a:cxnLst/>
            <a:rect r="r" b="b" t="t" l="l"/>
            <a:pathLst>
              <a:path h="8323804" w="10836882">
                <a:moveTo>
                  <a:pt x="0" y="0"/>
                </a:moveTo>
                <a:lnTo>
                  <a:pt x="10836882" y="0"/>
                </a:lnTo>
                <a:lnTo>
                  <a:pt x="10836882" y="8323804"/>
                </a:lnTo>
                <a:lnTo>
                  <a:pt x="0" y="8323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7692" y="443682"/>
            <a:ext cx="15351608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well is 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Olist’s shipping partner performing in terms of  cost?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150" y="1817438"/>
            <a:ext cx="9517018" cy="8498137"/>
          </a:xfrm>
          <a:custGeom>
            <a:avLst/>
            <a:gdLst/>
            <a:ahLst/>
            <a:cxnLst/>
            <a:rect r="r" b="b" t="t" l="l"/>
            <a:pathLst>
              <a:path h="8498137" w="9517018">
                <a:moveTo>
                  <a:pt x="0" y="0"/>
                </a:moveTo>
                <a:lnTo>
                  <a:pt x="9517018" y="0"/>
                </a:lnTo>
                <a:lnTo>
                  <a:pt x="9517018" y="8498137"/>
                </a:lnTo>
                <a:lnTo>
                  <a:pt x="0" y="8498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7692" y="443682"/>
            <a:ext cx="15351608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well is 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Olist’s shipping partner performing in terms of reliability?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51917" y="1885581"/>
            <a:ext cx="10887621" cy="8372844"/>
          </a:xfrm>
          <a:custGeom>
            <a:avLst/>
            <a:gdLst/>
            <a:ahLst/>
            <a:cxnLst/>
            <a:rect r="r" b="b" t="t" l="l"/>
            <a:pathLst>
              <a:path h="8372844" w="10887621">
                <a:moveTo>
                  <a:pt x="0" y="0"/>
                </a:moveTo>
                <a:lnTo>
                  <a:pt x="10887621" y="0"/>
                </a:lnTo>
                <a:lnTo>
                  <a:pt x="10887621" y="8372844"/>
                </a:lnTo>
                <a:lnTo>
                  <a:pt x="0" y="83728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7692" y="443682"/>
            <a:ext cx="15351608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well is 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Olist’s shipping partner performing in terms of  service quality?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966007"/>
            <a:chOff x="0" y="0"/>
            <a:chExt cx="4192568" cy="5107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510733"/>
            </a:xfrm>
            <a:custGeom>
              <a:avLst/>
              <a:gdLst/>
              <a:ahLst/>
              <a:cxnLst/>
              <a:rect r="r" b="b" t="t" l="l"/>
              <a:pathLst>
                <a:path h="510733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486268"/>
                  </a:lnTo>
                  <a:cubicBezTo>
                    <a:pt x="4192568" y="492757"/>
                    <a:pt x="4189990" y="498980"/>
                    <a:pt x="4185402" y="503568"/>
                  </a:cubicBezTo>
                  <a:cubicBezTo>
                    <a:pt x="4180814" y="508156"/>
                    <a:pt x="4174592" y="510733"/>
                    <a:pt x="4168103" y="510733"/>
                  </a:cubicBezTo>
                  <a:lnTo>
                    <a:pt x="24465" y="510733"/>
                  </a:lnTo>
                  <a:cubicBezTo>
                    <a:pt x="17977" y="510733"/>
                    <a:pt x="11754" y="508156"/>
                    <a:pt x="7166" y="503568"/>
                  </a:cubicBezTo>
                  <a:cubicBezTo>
                    <a:pt x="2578" y="498980"/>
                    <a:pt x="0" y="492757"/>
                    <a:pt x="0" y="486268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577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86484" y="498546"/>
            <a:ext cx="16210132" cy="233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are the key metr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ics for evaluating performance  on-time delivery rate, delay percentage, freight-to-product ratio, customer satisfaction?</a:t>
            </a:r>
          </a:p>
          <a:p>
            <a:pPr algn="l">
              <a:lnSpc>
                <a:spcPts val="436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363539" y="2833006"/>
            <a:ext cx="5604901" cy="3145583"/>
            <a:chOff x="0" y="0"/>
            <a:chExt cx="1456053" cy="8171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56053" cy="817166"/>
            </a:xfrm>
            <a:custGeom>
              <a:avLst/>
              <a:gdLst/>
              <a:ahLst/>
              <a:cxnLst/>
              <a:rect r="r" b="b" t="t" l="l"/>
              <a:pathLst>
                <a:path h="817166" w="1456053">
                  <a:moveTo>
                    <a:pt x="70445" y="0"/>
                  </a:moveTo>
                  <a:lnTo>
                    <a:pt x="1385608" y="0"/>
                  </a:lnTo>
                  <a:cubicBezTo>
                    <a:pt x="1404291" y="0"/>
                    <a:pt x="1422209" y="7422"/>
                    <a:pt x="1435420" y="20633"/>
                  </a:cubicBezTo>
                  <a:cubicBezTo>
                    <a:pt x="1448631" y="33844"/>
                    <a:pt x="1456053" y="51762"/>
                    <a:pt x="1456053" y="70445"/>
                  </a:cubicBezTo>
                  <a:lnTo>
                    <a:pt x="1456053" y="746721"/>
                  </a:lnTo>
                  <a:cubicBezTo>
                    <a:pt x="1456053" y="765404"/>
                    <a:pt x="1448631" y="783322"/>
                    <a:pt x="1435420" y="796533"/>
                  </a:cubicBezTo>
                  <a:cubicBezTo>
                    <a:pt x="1422209" y="809744"/>
                    <a:pt x="1404291" y="817166"/>
                    <a:pt x="1385608" y="817166"/>
                  </a:cubicBezTo>
                  <a:lnTo>
                    <a:pt x="70445" y="817166"/>
                  </a:lnTo>
                  <a:cubicBezTo>
                    <a:pt x="51762" y="817166"/>
                    <a:pt x="33844" y="809744"/>
                    <a:pt x="20633" y="796533"/>
                  </a:cubicBezTo>
                  <a:cubicBezTo>
                    <a:pt x="7422" y="783322"/>
                    <a:pt x="0" y="765404"/>
                    <a:pt x="0" y="746721"/>
                  </a:cubicBezTo>
                  <a:lnTo>
                    <a:pt x="0" y="70445"/>
                  </a:lnTo>
                  <a:cubicBezTo>
                    <a:pt x="0" y="51762"/>
                    <a:pt x="7422" y="33844"/>
                    <a:pt x="20633" y="20633"/>
                  </a:cubicBezTo>
                  <a:cubicBezTo>
                    <a:pt x="33844" y="7422"/>
                    <a:pt x="51762" y="0"/>
                    <a:pt x="70445" y="0"/>
                  </a:cubicBezTo>
                  <a:close/>
                </a:path>
              </a:pathLst>
            </a:custGeom>
            <a:solidFill>
              <a:srgbClr val="8BC7F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456053" cy="883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91550" y="2833006"/>
            <a:ext cx="5632333" cy="3145583"/>
            <a:chOff x="0" y="0"/>
            <a:chExt cx="1463179" cy="8171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179" cy="817166"/>
            </a:xfrm>
            <a:custGeom>
              <a:avLst/>
              <a:gdLst/>
              <a:ahLst/>
              <a:cxnLst/>
              <a:rect r="r" b="b" t="t" l="l"/>
              <a:pathLst>
                <a:path h="817166" w="1463179">
                  <a:moveTo>
                    <a:pt x="70102" y="0"/>
                  </a:moveTo>
                  <a:lnTo>
                    <a:pt x="1393077" y="0"/>
                  </a:lnTo>
                  <a:cubicBezTo>
                    <a:pt x="1411669" y="0"/>
                    <a:pt x="1429500" y="7386"/>
                    <a:pt x="1442647" y="20532"/>
                  </a:cubicBezTo>
                  <a:cubicBezTo>
                    <a:pt x="1455794" y="33679"/>
                    <a:pt x="1463179" y="51510"/>
                    <a:pt x="1463179" y="70102"/>
                  </a:cubicBezTo>
                  <a:lnTo>
                    <a:pt x="1463179" y="747064"/>
                  </a:lnTo>
                  <a:cubicBezTo>
                    <a:pt x="1463179" y="765656"/>
                    <a:pt x="1455794" y="783487"/>
                    <a:pt x="1442647" y="796634"/>
                  </a:cubicBezTo>
                  <a:cubicBezTo>
                    <a:pt x="1429500" y="809780"/>
                    <a:pt x="1411669" y="817166"/>
                    <a:pt x="1393077" y="817166"/>
                  </a:cubicBezTo>
                  <a:lnTo>
                    <a:pt x="70102" y="817166"/>
                  </a:lnTo>
                  <a:cubicBezTo>
                    <a:pt x="51510" y="817166"/>
                    <a:pt x="33679" y="809780"/>
                    <a:pt x="20532" y="796634"/>
                  </a:cubicBezTo>
                  <a:cubicBezTo>
                    <a:pt x="7386" y="783487"/>
                    <a:pt x="0" y="765656"/>
                    <a:pt x="0" y="747064"/>
                  </a:cubicBezTo>
                  <a:lnTo>
                    <a:pt x="0" y="70102"/>
                  </a:lnTo>
                  <a:cubicBezTo>
                    <a:pt x="0" y="51510"/>
                    <a:pt x="7386" y="33679"/>
                    <a:pt x="20532" y="20532"/>
                  </a:cubicBezTo>
                  <a:cubicBezTo>
                    <a:pt x="33679" y="7386"/>
                    <a:pt x="51510" y="0"/>
                    <a:pt x="70102" y="0"/>
                  </a:cubicBezTo>
                  <a:close/>
                </a:path>
              </a:pathLst>
            </a:custGeom>
            <a:solidFill>
              <a:srgbClr val="FB737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463179" cy="883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363539" y="6492939"/>
            <a:ext cx="5604901" cy="3145583"/>
            <a:chOff x="0" y="0"/>
            <a:chExt cx="1456053" cy="8171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56053" cy="817166"/>
            </a:xfrm>
            <a:custGeom>
              <a:avLst/>
              <a:gdLst/>
              <a:ahLst/>
              <a:cxnLst/>
              <a:rect r="r" b="b" t="t" l="l"/>
              <a:pathLst>
                <a:path h="817166" w="1456053">
                  <a:moveTo>
                    <a:pt x="70445" y="0"/>
                  </a:moveTo>
                  <a:lnTo>
                    <a:pt x="1385608" y="0"/>
                  </a:lnTo>
                  <a:cubicBezTo>
                    <a:pt x="1404291" y="0"/>
                    <a:pt x="1422209" y="7422"/>
                    <a:pt x="1435420" y="20633"/>
                  </a:cubicBezTo>
                  <a:cubicBezTo>
                    <a:pt x="1448631" y="33844"/>
                    <a:pt x="1456053" y="51762"/>
                    <a:pt x="1456053" y="70445"/>
                  </a:cubicBezTo>
                  <a:lnTo>
                    <a:pt x="1456053" y="746721"/>
                  </a:lnTo>
                  <a:cubicBezTo>
                    <a:pt x="1456053" y="765404"/>
                    <a:pt x="1448631" y="783322"/>
                    <a:pt x="1435420" y="796533"/>
                  </a:cubicBezTo>
                  <a:cubicBezTo>
                    <a:pt x="1422209" y="809744"/>
                    <a:pt x="1404291" y="817166"/>
                    <a:pt x="1385608" y="817166"/>
                  </a:cubicBezTo>
                  <a:lnTo>
                    <a:pt x="70445" y="817166"/>
                  </a:lnTo>
                  <a:cubicBezTo>
                    <a:pt x="51762" y="817166"/>
                    <a:pt x="33844" y="809744"/>
                    <a:pt x="20633" y="796533"/>
                  </a:cubicBezTo>
                  <a:cubicBezTo>
                    <a:pt x="7422" y="783322"/>
                    <a:pt x="0" y="765404"/>
                    <a:pt x="0" y="746721"/>
                  </a:cubicBezTo>
                  <a:lnTo>
                    <a:pt x="0" y="70445"/>
                  </a:lnTo>
                  <a:cubicBezTo>
                    <a:pt x="0" y="51762"/>
                    <a:pt x="7422" y="33844"/>
                    <a:pt x="20633" y="20633"/>
                  </a:cubicBezTo>
                  <a:cubicBezTo>
                    <a:pt x="33844" y="7422"/>
                    <a:pt x="51762" y="0"/>
                    <a:pt x="70445" y="0"/>
                  </a:cubicBezTo>
                  <a:close/>
                </a:path>
              </a:pathLst>
            </a:custGeom>
            <a:solidFill>
              <a:srgbClr val="C3CCD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456053" cy="883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91550" y="6492939"/>
            <a:ext cx="5632333" cy="3145583"/>
            <a:chOff x="0" y="0"/>
            <a:chExt cx="1463179" cy="8171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179" cy="817166"/>
            </a:xfrm>
            <a:custGeom>
              <a:avLst/>
              <a:gdLst/>
              <a:ahLst/>
              <a:cxnLst/>
              <a:rect r="r" b="b" t="t" l="l"/>
              <a:pathLst>
                <a:path h="817166" w="1463179">
                  <a:moveTo>
                    <a:pt x="70102" y="0"/>
                  </a:moveTo>
                  <a:lnTo>
                    <a:pt x="1393077" y="0"/>
                  </a:lnTo>
                  <a:cubicBezTo>
                    <a:pt x="1411669" y="0"/>
                    <a:pt x="1429500" y="7386"/>
                    <a:pt x="1442647" y="20532"/>
                  </a:cubicBezTo>
                  <a:cubicBezTo>
                    <a:pt x="1455794" y="33679"/>
                    <a:pt x="1463179" y="51510"/>
                    <a:pt x="1463179" y="70102"/>
                  </a:cubicBezTo>
                  <a:lnTo>
                    <a:pt x="1463179" y="747064"/>
                  </a:lnTo>
                  <a:cubicBezTo>
                    <a:pt x="1463179" y="765656"/>
                    <a:pt x="1455794" y="783487"/>
                    <a:pt x="1442647" y="796634"/>
                  </a:cubicBezTo>
                  <a:cubicBezTo>
                    <a:pt x="1429500" y="809780"/>
                    <a:pt x="1411669" y="817166"/>
                    <a:pt x="1393077" y="817166"/>
                  </a:cubicBezTo>
                  <a:lnTo>
                    <a:pt x="70102" y="817166"/>
                  </a:lnTo>
                  <a:cubicBezTo>
                    <a:pt x="51510" y="817166"/>
                    <a:pt x="33679" y="809780"/>
                    <a:pt x="20532" y="796634"/>
                  </a:cubicBezTo>
                  <a:cubicBezTo>
                    <a:pt x="7386" y="783487"/>
                    <a:pt x="0" y="765656"/>
                    <a:pt x="0" y="747064"/>
                  </a:cubicBezTo>
                  <a:lnTo>
                    <a:pt x="0" y="70102"/>
                  </a:lnTo>
                  <a:cubicBezTo>
                    <a:pt x="0" y="51510"/>
                    <a:pt x="7386" y="33679"/>
                    <a:pt x="20532" y="20532"/>
                  </a:cubicBezTo>
                  <a:cubicBezTo>
                    <a:pt x="33679" y="7386"/>
                    <a:pt x="51510" y="0"/>
                    <a:pt x="70102" y="0"/>
                  </a:cubicBezTo>
                  <a:close/>
                </a:path>
              </a:pathLst>
            </a:custGeom>
            <a:solidFill>
              <a:srgbClr val="D5B58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463179" cy="883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18029" y="2919714"/>
            <a:ext cx="7295922" cy="2886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6"/>
              </a:lnSpc>
            </a:pPr>
            <a:r>
              <a:rPr lang="en-US" sz="487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On time </a:t>
            </a:r>
          </a:p>
          <a:p>
            <a:pPr algn="ctr">
              <a:lnSpc>
                <a:spcPts val="5366"/>
              </a:lnSpc>
            </a:pPr>
            <a:r>
              <a:rPr lang="en-US" sz="487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delivery rate:</a:t>
            </a:r>
          </a:p>
          <a:p>
            <a:pPr algn="ctr">
              <a:lnSpc>
                <a:spcPts val="2946"/>
              </a:lnSpc>
            </a:pPr>
          </a:p>
          <a:p>
            <a:pPr algn="ctr">
              <a:lnSpc>
                <a:spcPts val="7896"/>
              </a:lnSpc>
            </a:pPr>
            <a:r>
              <a:rPr lang="en-US" sz="717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93.22%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8029" y="6579647"/>
            <a:ext cx="7295922" cy="2886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6"/>
              </a:lnSpc>
            </a:pPr>
            <a:r>
              <a:rPr lang="en-US" sz="487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Customer</a:t>
            </a:r>
          </a:p>
          <a:p>
            <a:pPr algn="ctr">
              <a:lnSpc>
                <a:spcPts val="5366"/>
              </a:lnSpc>
            </a:pPr>
            <a:r>
              <a:rPr lang="en-US" sz="487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</a:t>
            </a:r>
            <a:r>
              <a:rPr lang="en-US" sz="487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atisfaction:</a:t>
            </a:r>
          </a:p>
          <a:p>
            <a:pPr algn="ctr">
              <a:lnSpc>
                <a:spcPts val="2946"/>
              </a:lnSpc>
            </a:pPr>
          </a:p>
          <a:p>
            <a:pPr algn="ctr">
              <a:lnSpc>
                <a:spcPts val="7896"/>
              </a:lnSpc>
            </a:pPr>
            <a:r>
              <a:rPr lang="en-US" sz="717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4</a:t>
            </a:r>
            <a:r>
              <a:rPr lang="en-US" sz="717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.09/5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59756" y="6564325"/>
            <a:ext cx="7295922" cy="2886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6"/>
              </a:lnSpc>
            </a:pPr>
            <a:r>
              <a:rPr lang="en-US" sz="487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Fright to</a:t>
            </a:r>
          </a:p>
          <a:p>
            <a:pPr algn="ctr">
              <a:lnSpc>
                <a:spcPts val="5366"/>
              </a:lnSpc>
            </a:pPr>
            <a:r>
              <a:rPr lang="en-US" sz="487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price ratio:</a:t>
            </a:r>
          </a:p>
          <a:p>
            <a:pPr algn="ctr">
              <a:lnSpc>
                <a:spcPts val="2946"/>
              </a:lnSpc>
            </a:pPr>
          </a:p>
          <a:p>
            <a:pPr algn="ctr">
              <a:lnSpc>
                <a:spcPts val="7896"/>
              </a:lnSpc>
            </a:pPr>
            <a:r>
              <a:rPr lang="en-US" sz="717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32%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59756" y="3257852"/>
            <a:ext cx="7295922" cy="221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6"/>
              </a:lnSpc>
            </a:pPr>
            <a:r>
              <a:rPr lang="en-US" sz="487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Delay rate:</a:t>
            </a:r>
          </a:p>
          <a:p>
            <a:pPr algn="ctr">
              <a:lnSpc>
                <a:spcPts val="2946"/>
              </a:lnSpc>
            </a:pPr>
          </a:p>
          <a:p>
            <a:pPr algn="ctr">
              <a:lnSpc>
                <a:spcPts val="7896"/>
              </a:lnSpc>
            </a:pPr>
            <a:r>
              <a:rPr lang="en-US" sz="717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6</a:t>
            </a:r>
            <a:r>
              <a:rPr lang="en-US" sz="717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.78%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5034" y="4608670"/>
            <a:ext cx="8334446" cy="3315305"/>
            <a:chOff x="0" y="0"/>
            <a:chExt cx="1038683" cy="413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683" cy="413171"/>
            </a:xfrm>
            <a:custGeom>
              <a:avLst/>
              <a:gdLst/>
              <a:ahLst/>
              <a:cxnLst/>
              <a:rect r="r" b="b" t="t" l="l"/>
              <a:pathLst>
                <a:path h="413171" w="1038683">
                  <a:moveTo>
                    <a:pt x="46445" y="0"/>
                  </a:moveTo>
                  <a:lnTo>
                    <a:pt x="992237" y="0"/>
                  </a:lnTo>
                  <a:cubicBezTo>
                    <a:pt x="1017889" y="0"/>
                    <a:pt x="1038683" y="20794"/>
                    <a:pt x="1038683" y="46445"/>
                  </a:cubicBezTo>
                  <a:lnTo>
                    <a:pt x="1038683" y="366726"/>
                  </a:lnTo>
                  <a:cubicBezTo>
                    <a:pt x="1038683" y="392377"/>
                    <a:pt x="1017889" y="413171"/>
                    <a:pt x="992237" y="413171"/>
                  </a:cubicBezTo>
                  <a:lnTo>
                    <a:pt x="46445" y="413171"/>
                  </a:lnTo>
                  <a:cubicBezTo>
                    <a:pt x="20794" y="413171"/>
                    <a:pt x="0" y="392377"/>
                    <a:pt x="0" y="366726"/>
                  </a:cubicBezTo>
                  <a:lnTo>
                    <a:pt x="0" y="46445"/>
                  </a:lnTo>
                  <a:cubicBezTo>
                    <a:pt x="0" y="20794"/>
                    <a:pt x="20794" y="0"/>
                    <a:pt x="4644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3745" r="0" b="-3374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35541" y="4627460"/>
            <a:ext cx="3895881" cy="6593030"/>
          </a:xfrm>
          <a:custGeom>
            <a:avLst/>
            <a:gdLst/>
            <a:ahLst/>
            <a:cxnLst/>
            <a:rect r="r" b="b" t="t" l="l"/>
            <a:pathLst>
              <a:path h="6593030" w="3895881">
                <a:moveTo>
                  <a:pt x="0" y="0"/>
                </a:moveTo>
                <a:lnTo>
                  <a:pt x="3895881" y="0"/>
                </a:lnTo>
                <a:lnTo>
                  <a:pt x="3895881" y="6593030"/>
                </a:lnTo>
                <a:lnTo>
                  <a:pt x="0" y="6593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4691" y="8023533"/>
            <a:ext cx="6219749" cy="6219749"/>
          </a:xfrm>
          <a:custGeom>
            <a:avLst/>
            <a:gdLst/>
            <a:ahLst/>
            <a:cxnLst/>
            <a:rect r="r" b="b" t="t" l="l"/>
            <a:pathLst>
              <a:path h="6219749" w="6219749">
                <a:moveTo>
                  <a:pt x="0" y="0"/>
                </a:moveTo>
                <a:lnTo>
                  <a:pt x="6219749" y="0"/>
                </a:lnTo>
                <a:lnTo>
                  <a:pt x="6219749" y="6219749"/>
                </a:lnTo>
                <a:lnTo>
                  <a:pt x="0" y="62197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20511" y="1028700"/>
            <a:ext cx="16138789" cy="1404000"/>
            <a:chOff x="0" y="0"/>
            <a:chExt cx="4192568" cy="3647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050051" y="1412075"/>
            <a:ext cx="13168941" cy="76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9"/>
              </a:lnSpc>
            </a:pPr>
            <a:r>
              <a:rPr lang="en-US" sz="44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</a:t>
            </a:r>
            <a:r>
              <a:rPr lang="en-US" sz="44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hat percentage of orders are delivered late?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588830" y="4608670"/>
            <a:ext cx="6670470" cy="3145583"/>
            <a:chOff x="0" y="0"/>
            <a:chExt cx="1732869" cy="8171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2868" cy="817166"/>
            </a:xfrm>
            <a:custGeom>
              <a:avLst/>
              <a:gdLst/>
              <a:ahLst/>
              <a:cxnLst/>
              <a:rect r="r" b="b" t="t" l="l"/>
              <a:pathLst>
                <a:path h="817166" w="1732868">
                  <a:moveTo>
                    <a:pt x="59192" y="0"/>
                  </a:moveTo>
                  <a:lnTo>
                    <a:pt x="1673677" y="0"/>
                  </a:lnTo>
                  <a:cubicBezTo>
                    <a:pt x="1689375" y="0"/>
                    <a:pt x="1704431" y="6236"/>
                    <a:pt x="1715532" y="17337"/>
                  </a:cubicBezTo>
                  <a:cubicBezTo>
                    <a:pt x="1726632" y="28438"/>
                    <a:pt x="1732868" y="43493"/>
                    <a:pt x="1732868" y="59192"/>
                  </a:cubicBezTo>
                  <a:lnTo>
                    <a:pt x="1732868" y="757974"/>
                  </a:lnTo>
                  <a:cubicBezTo>
                    <a:pt x="1732868" y="773673"/>
                    <a:pt x="1726632" y="788729"/>
                    <a:pt x="1715532" y="799829"/>
                  </a:cubicBezTo>
                  <a:cubicBezTo>
                    <a:pt x="1704431" y="810930"/>
                    <a:pt x="1689375" y="817166"/>
                    <a:pt x="1673677" y="817166"/>
                  </a:cubicBezTo>
                  <a:lnTo>
                    <a:pt x="59192" y="817166"/>
                  </a:lnTo>
                  <a:cubicBezTo>
                    <a:pt x="43493" y="817166"/>
                    <a:pt x="28438" y="810930"/>
                    <a:pt x="17337" y="799829"/>
                  </a:cubicBezTo>
                  <a:cubicBezTo>
                    <a:pt x="6236" y="788729"/>
                    <a:pt x="0" y="773673"/>
                    <a:pt x="0" y="757974"/>
                  </a:cubicBezTo>
                  <a:lnTo>
                    <a:pt x="0" y="59192"/>
                  </a:lnTo>
                  <a:cubicBezTo>
                    <a:pt x="0" y="43493"/>
                    <a:pt x="6236" y="28438"/>
                    <a:pt x="17337" y="17337"/>
                  </a:cubicBezTo>
                  <a:cubicBezTo>
                    <a:pt x="28438" y="6236"/>
                    <a:pt x="43493" y="0"/>
                    <a:pt x="59192" y="0"/>
                  </a:cubicBezTo>
                  <a:close/>
                </a:path>
              </a:pathLst>
            </a:custGeom>
            <a:solidFill>
              <a:srgbClr val="FB737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732869" cy="883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067288" y="5202325"/>
            <a:ext cx="4589854" cy="196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39"/>
              </a:lnSpc>
            </a:pPr>
            <a:r>
              <a:rPr lang="en-US" sz="1149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6.7 %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8256" y="2368040"/>
            <a:ext cx="16761044" cy="7511384"/>
          </a:xfrm>
          <a:custGeom>
            <a:avLst/>
            <a:gdLst/>
            <a:ahLst/>
            <a:cxnLst/>
            <a:rect r="r" b="b" t="t" l="l"/>
            <a:pathLst>
              <a:path h="7511384" w="16761044">
                <a:moveTo>
                  <a:pt x="0" y="0"/>
                </a:moveTo>
                <a:lnTo>
                  <a:pt x="16761044" y="0"/>
                </a:lnTo>
                <a:lnTo>
                  <a:pt x="16761044" y="7511384"/>
                </a:lnTo>
                <a:lnTo>
                  <a:pt x="0" y="7511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230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hat is the average delay duration, and how does it vary by state?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8411" y="1840873"/>
            <a:ext cx="16706357" cy="8168119"/>
          </a:xfrm>
          <a:custGeom>
            <a:avLst/>
            <a:gdLst/>
            <a:ahLst/>
            <a:cxnLst/>
            <a:rect r="r" b="b" t="t" l="l"/>
            <a:pathLst>
              <a:path h="8168119" w="16706357">
                <a:moveTo>
                  <a:pt x="0" y="0"/>
                </a:moveTo>
                <a:lnTo>
                  <a:pt x="16706357" y="0"/>
                </a:lnTo>
                <a:lnTo>
                  <a:pt x="16706357" y="8168119"/>
                </a:lnTo>
                <a:lnTo>
                  <a:pt x="0" y="8168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hat is the average delay duration, and how does it vary product category?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65519" y="1760288"/>
            <a:ext cx="11481126" cy="8686378"/>
          </a:xfrm>
          <a:custGeom>
            <a:avLst/>
            <a:gdLst/>
            <a:ahLst/>
            <a:cxnLst/>
            <a:rect r="r" b="b" t="t" l="l"/>
            <a:pathLst>
              <a:path h="8686378" w="11481126">
                <a:moveTo>
                  <a:pt x="0" y="0"/>
                </a:moveTo>
                <a:lnTo>
                  <a:pt x="11481126" y="0"/>
                </a:lnTo>
                <a:lnTo>
                  <a:pt x="11481126" y="8686378"/>
                </a:lnTo>
                <a:lnTo>
                  <a:pt x="0" y="8686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82168" y="721756"/>
            <a:ext cx="14583512" cy="1230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Do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es order weight or size influence delivery delays?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47537" y="1760288"/>
            <a:ext cx="10443763" cy="8498137"/>
          </a:xfrm>
          <a:custGeom>
            <a:avLst/>
            <a:gdLst/>
            <a:ahLst/>
            <a:cxnLst/>
            <a:rect r="r" b="b" t="t" l="l"/>
            <a:pathLst>
              <a:path h="8498137" w="10443763">
                <a:moveTo>
                  <a:pt x="0" y="0"/>
                </a:moveTo>
                <a:lnTo>
                  <a:pt x="10443763" y="0"/>
                </a:lnTo>
                <a:lnTo>
                  <a:pt x="10443763" y="8498137"/>
                </a:lnTo>
                <a:lnTo>
                  <a:pt x="0" y="8498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82168" y="721756"/>
            <a:ext cx="14583512" cy="1230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Do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es order weight or size influence delivery delays?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39958" y="1760288"/>
            <a:ext cx="10763413" cy="8526712"/>
          </a:xfrm>
          <a:custGeom>
            <a:avLst/>
            <a:gdLst/>
            <a:ahLst/>
            <a:cxnLst/>
            <a:rect r="r" b="b" t="t" l="l"/>
            <a:pathLst>
              <a:path h="8526712" w="10763413">
                <a:moveTo>
                  <a:pt x="0" y="0"/>
                </a:moveTo>
                <a:lnTo>
                  <a:pt x="10763413" y="0"/>
                </a:lnTo>
                <a:lnTo>
                  <a:pt x="10763413" y="8526712"/>
                </a:lnTo>
                <a:lnTo>
                  <a:pt x="0" y="8526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 the delay pattern consistent (e.g., certain months, weekends, or quarters)?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11674" y="1760288"/>
            <a:ext cx="11613794" cy="8806232"/>
          </a:xfrm>
          <a:custGeom>
            <a:avLst/>
            <a:gdLst/>
            <a:ahLst/>
            <a:cxnLst/>
            <a:rect r="r" b="b" t="t" l="l"/>
            <a:pathLst>
              <a:path h="8806232" w="11613794">
                <a:moveTo>
                  <a:pt x="0" y="0"/>
                </a:moveTo>
                <a:lnTo>
                  <a:pt x="11613794" y="0"/>
                </a:lnTo>
                <a:lnTo>
                  <a:pt x="11613794" y="8806232"/>
                </a:lnTo>
                <a:lnTo>
                  <a:pt x="0" y="8806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Do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es lateness occur even when the seller and customer are in the same state?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75071" y="1883442"/>
            <a:ext cx="10117836" cy="8403558"/>
          </a:xfrm>
          <a:custGeom>
            <a:avLst/>
            <a:gdLst/>
            <a:ahLst/>
            <a:cxnLst/>
            <a:rect r="r" b="b" t="t" l="l"/>
            <a:pathLst>
              <a:path h="8403558" w="10117836">
                <a:moveTo>
                  <a:pt x="0" y="0"/>
                </a:moveTo>
                <a:lnTo>
                  <a:pt x="10117837" y="0"/>
                </a:lnTo>
                <a:lnTo>
                  <a:pt x="10117837" y="8403558"/>
                </a:lnTo>
                <a:lnTo>
                  <a:pt x="0" y="8403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i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 the average freight value, and what percentage of the total product price does it represent?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92704" y="1967129"/>
            <a:ext cx="14102592" cy="8120036"/>
          </a:xfrm>
          <a:custGeom>
            <a:avLst/>
            <a:gdLst/>
            <a:ahLst/>
            <a:cxnLst/>
            <a:rect r="r" b="b" t="t" l="l"/>
            <a:pathLst>
              <a:path h="8120036" w="14102592">
                <a:moveTo>
                  <a:pt x="0" y="0"/>
                </a:moveTo>
                <a:lnTo>
                  <a:pt x="14102592" y="0"/>
                </a:lnTo>
                <a:lnTo>
                  <a:pt x="14102592" y="8120036"/>
                </a:lnTo>
                <a:lnTo>
                  <a:pt x="0" y="8120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doe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 the freight-to-price ratio vary by product category or state?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25552" y="474868"/>
            <a:ext cx="14583512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doe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 the freight-to-price ratio vary by product category or state?</a:t>
            </a:r>
          </a:p>
          <a:p>
            <a:pPr algn="l">
              <a:lnSpc>
                <a:spcPts val="436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5157" y="2063039"/>
            <a:ext cx="14597236" cy="7916552"/>
          </a:xfrm>
          <a:custGeom>
            <a:avLst/>
            <a:gdLst/>
            <a:ahLst/>
            <a:cxnLst/>
            <a:rect r="r" b="b" t="t" l="l"/>
            <a:pathLst>
              <a:path h="7916552" w="14597236">
                <a:moveTo>
                  <a:pt x="0" y="0"/>
                </a:moveTo>
                <a:lnTo>
                  <a:pt x="14597235" y="0"/>
                </a:lnTo>
                <a:lnTo>
                  <a:pt x="14597235" y="7916552"/>
                </a:lnTo>
                <a:lnTo>
                  <a:pt x="0" y="7916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20631" y="0"/>
            <a:ext cx="8860464" cy="10308252"/>
          </a:xfrm>
          <a:custGeom>
            <a:avLst/>
            <a:gdLst/>
            <a:ahLst/>
            <a:cxnLst/>
            <a:rect r="r" b="b" t="t" l="l"/>
            <a:pathLst>
              <a:path h="10308252" w="8860464">
                <a:moveTo>
                  <a:pt x="0" y="0"/>
                </a:moveTo>
                <a:lnTo>
                  <a:pt x="8860463" y="0"/>
                </a:lnTo>
                <a:lnTo>
                  <a:pt x="8860463" y="10308252"/>
                </a:lnTo>
                <a:lnTo>
                  <a:pt x="0" y="103082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94239" y="1760288"/>
            <a:ext cx="9807711" cy="8152377"/>
          </a:xfrm>
          <a:custGeom>
            <a:avLst/>
            <a:gdLst/>
            <a:ahLst/>
            <a:cxnLst/>
            <a:rect r="r" b="b" t="t" l="l"/>
            <a:pathLst>
              <a:path h="8152377" w="9807711">
                <a:moveTo>
                  <a:pt x="0" y="0"/>
                </a:moveTo>
                <a:lnTo>
                  <a:pt x="9807711" y="0"/>
                </a:lnTo>
                <a:lnTo>
                  <a:pt x="9807711" y="8152377"/>
                </a:lnTo>
                <a:lnTo>
                  <a:pt x="0" y="8152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5" t="0" r="-169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Are lighter produc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ts being overcharged (e.g., low weight but high freight)?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6003" y="4228212"/>
            <a:ext cx="8712140" cy="5030088"/>
            <a:chOff x="0" y="0"/>
            <a:chExt cx="2294555" cy="1324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555" cy="1324797"/>
            </a:xfrm>
            <a:custGeom>
              <a:avLst/>
              <a:gdLst/>
              <a:ahLst/>
              <a:cxnLst/>
              <a:rect r="r" b="b" t="t" l="l"/>
              <a:pathLst>
                <a:path h="1324797" w="2294555">
                  <a:moveTo>
                    <a:pt x="45320" y="0"/>
                  </a:moveTo>
                  <a:lnTo>
                    <a:pt x="2249235" y="0"/>
                  </a:lnTo>
                  <a:cubicBezTo>
                    <a:pt x="2261255" y="0"/>
                    <a:pt x="2272782" y="4775"/>
                    <a:pt x="2281281" y="13274"/>
                  </a:cubicBezTo>
                  <a:cubicBezTo>
                    <a:pt x="2289780" y="21773"/>
                    <a:pt x="2294555" y="33301"/>
                    <a:pt x="2294555" y="45320"/>
                  </a:cubicBezTo>
                  <a:lnTo>
                    <a:pt x="2294555" y="1279477"/>
                  </a:lnTo>
                  <a:cubicBezTo>
                    <a:pt x="2294555" y="1304506"/>
                    <a:pt x="2274265" y="1324797"/>
                    <a:pt x="2249235" y="1324797"/>
                  </a:cubicBezTo>
                  <a:lnTo>
                    <a:pt x="45320" y="1324797"/>
                  </a:lnTo>
                  <a:cubicBezTo>
                    <a:pt x="33301" y="1324797"/>
                    <a:pt x="21773" y="1320022"/>
                    <a:pt x="13274" y="1311523"/>
                  </a:cubicBezTo>
                  <a:cubicBezTo>
                    <a:pt x="4775" y="1303024"/>
                    <a:pt x="0" y="1291496"/>
                    <a:pt x="0" y="1279477"/>
                  </a:cubicBezTo>
                  <a:lnTo>
                    <a:pt x="0" y="45320"/>
                  </a:lnTo>
                  <a:cubicBezTo>
                    <a:pt x="0" y="33301"/>
                    <a:pt x="4775" y="21773"/>
                    <a:pt x="13274" y="13274"/>
                  </a:cubicBezTo>
                  <a:cubicBezTo>
                    <a:pt x="21773" y="4775"/>
                    <a:pt x="33301" y="0"/>
                    <a:pt x="45320" y="0"/>
                  </a:cubicBezTo>
                  <a:close/>
                </a:path>
              </a:pathLst>
            </a:custGeom>
            <a:solidFill>
              <a:srgbClr val="FCE8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294555" cy="139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44270" y="1263557"/>
            <a:ext cx="7254411" cy="7994743"/>
            <a:chOff x="0" y="0"/>
            <a:chExt cx="1069836" cy="11790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55494" y="0"/>
                  </a:moveTo>
                  <a:lnTo>
                    <a:pt x="1014342" y="0"/>
                  </a:lnTo>
                  <a:cubicBezTo>
                    <a:pt x="1029060" y="0"/>
                    <a:pt x="1043175" y="5847"/>
                    <a:pt x="1053582" y="16254"/>
                  </a:cubicBezTo>
                  <a:cubicBezTo>
                    <a:pt x="1063990" y="26661"/>
                    <a:pt x="1069836" y="40776"/>
                    <a:pt x="1069836" y="55494"/>
                  </a:cubicBezTo>
                  <a:lnTo>
                    <a:pt x="1069836" y="1123521"/>
                  </a:lnTo>
                  <a:cubicBezTo>
                    <a:pt x="1069836" y="1138239"/>
                    <a:pt x="1063990" y="1152355"/>
                    <a:pt x="1053582" y="1162762"/>
                  </a:cubicBezTo>
                  <a:cubicBezTo>
                    <a:pt x="1043175" y="1173169"/>
                    <a:pt x="1029060" y="1179016"/>
                    <a:pt x="1014342" y="1179016"/>
                  </a:cubicBezTo>
                  <a:lnTo>
                    <a:pt x="55494" y="1179016"/>
                  </a:lnTo>
                  <a:cubicBezTo>
                    <a:pt x="40776" y="1179016"/>
                    <a:pt x="26661" y="1173169"/>
                    <a:pt x="16254" y="1162762"/>
                  </a:cubicBezTo>
                  <a:cubicBezTo>
                    <a:pt x="5847" y="1152355"/>
                    <a:pt x="0" y="1138239"/>
                    <a:pt x="0" y="1123521"/>
                  </a:cubicBezTo>
                  <a:lnTo>
                    <a:pt x="0" y="55494"/>
                  </a:lnTo>
                  <a:cubicBezTo>
                    <a:pt x="0" y="40776"/>
                    <a:pt x="5847" y="26661"/>
                    <a:pt x="16254" y="16254"/>
                  </a:cubicBezTo>
                  <a:cubicBezTo>
                    <a:pt x="26661" y="5847"/>
                    <a:pt x="40776" y="0"/>
                    <a:pt x="55494" y="0"/>
                  </a:cubicBezTo>
                  <a:close/>
                </a:path>
              </a:pathLst>
            </a:custGeom>
            <a:blipFill>
              <a:blip r:embed="rId2"/>
              <a:stretch>
                <a:fillRect l="-32705" t="0" r="-32705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1742225" y="4186434"/>
            <a:ext cx="7063814" cy="6100566"/>
          </a:xfrm>
          <a:custGeom>
            <a:avLst/>
            <a:gdLst/>
            <a:ahLst/>
            <a:cxnLst/>
            <a:rect r="r" b="b" t="t" l="l"/>
            <a:pathLst>
              <a:path h="6100566" w="7063814">
                <a:moveTo>
                  <a:pt x="0" y="0"/>
                </a:moveTo>
                <a:lnTo>
                  <a:pt x="7063814" y="0"/>
                </a:lnTo>
                <a:lnTo>
                  <a:pt x="7063814" y="6100566"/>
                </a:lnTo>
                <a:lnTo>
                  <a:pt x="0" y="6100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06366" y="4516628"/>
            <a:ext cx="7103502" cy="4367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On-time delivery is strong, with 93.22% of orders delivered on time.</a:t>
            </a:r>
          </a:p>
          <a:p>
            <a:pPr algn="just">
              <a:lnSpc>
                <a:spcPts val="4479"/>
              </a:lnSpc>
            </a:pPr>
          </a:p>
          <a:p>
            <a:pPr algn="just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Freight pricing is consistent, increasing with product weight and delivery distance.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1028700"/>
            <a:ext cx="16138789" cy="1404000"/>
            <a:chOff x="0" y="0"/>
            <a:chExt cx="4192568" cy="3647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07692" y="1116095"/>
            <a:ext cx="15351608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Is 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shipping partner meeting expectations for on-time delivery and fair pricing?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32541" y="1760288"/>
            <a:ext cx="11088667" cy="8526712"/>
          </a:xfrm>
          <a:custGeom>
            <a:avLst/>
            <a:gdLst/>
            <a:ahLst/>
            <a:cxnLst/>
            <a:rect r="r" b="b" t="t" l="l"/>
            <a:pathLst>
              <a:path h="8526712" w="11088667">
                <a:moveTo>
                  <a:pt x="0" y="0"/>
                </a:moveTo>
                <a:lnTo>
                  <a:pt x="11088667" y="0"/>
                </a:lnTo>
                <a:lnTo>
                  <a:pt x="11088667" y="8526712"/>
                </a:lnTo>
                <a:lnTo>
                  <a:pt x="0" y="8526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Is the underestimation of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delivery time or cost a frequent issue, and why does it occur?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00578" y="1760288"/>
            <a:ext cx="13686843" cy="8526712"/>
          </a:xfrm>
          <a:custGeom>
            <a:avLst/>
            <a:gdLst/>
            <a:ahLst/>
            <a:cxnLst/>
            <a:rect r="r" b="b" t="t" l="l"/>
            <a:pathLst>
              <a:path h="8526712" w="13686843">
                <a:moveTo>
                  <a:pt x="0" y="0"/>
                </a:moveTo>
                <a:lnTo>
                  <a:pt x="13686844" y="0"/>
                </a:lnTo>
                <a:lnTo>
                  <a:pt x="13686844" y="8526712"/>
                </a:lnTo>
                <a:lnTo>
                  <a:pt x="0" y="8526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is the shipping company performing in states with no sellers? Are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deliveries to these states delayed or on time?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81391" y="1866966"/>
            <a:ext cx="12315979" cy="8345350"/>
          </a:xfrm>
          <a:custGeom>
            <a:avLst/>
            <a:gdLst/>
            <a:ahLst/>
            <a:cxnLst/>
            <a:rect r="r" b="b" t="t" l="l"/>
            <a:pathLst>
              <a:path h="8345350" w="12315979">
                <a:moveTo>
                  <a:pt x="0" y="0"/>
                </a:moveTo>
                <a:lnTo>
                  <a:pt x="12315979" y="0"/>
                </a:lnTo>
                <a:lnTo>
                  <a:pt x="12315979" y="8345350"/>
                </a:lnTo>
                <a:lnTo>
                  <a:pt x="0" y="834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Which states or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regions have the highest or lowest delivery performance?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3121525"/>
            <a:ext cx="18288000" cy="5993546"/>
          </a:xfrm>
          <a:custGeom>
            <a:avLst/>
            <a:gdLst/>
            <a:ahLst/>
            <a:cxnLst/>
            <a:rect r="r" b="b" t="t" l="l"/>
            <a:pathLst>
              <a:path h="5993546" w="18288000">
                <a:moveTo>
                  <a:pt x="0" y="0"/>
                </a:moveTo>
                <a:lnTo>
                  <a:pt x="18288000" y="0"/>
                </a:lnTo>
                <a:lnTo>
                  <a:pt x="18288000" y="5993546"/>
                </a:lnTo>
                <a:lnTo>
                  <a:pt x="0" y="5993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do in-state vs. out-of-state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deliveries compare in terms of timeliness and cost?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50151" y="1760288"/>
            <a:ext cx="12387698" cy="8487199"/>
          </a:xfrm>
          <a:custGeom>
            <a:avLst/>
            <a:gdLst/>
            <a:ahLst/>
            <a:cxnLst/>
            <a:rect r="r" b="b" t="t" l="l"/>
            <a:pathLst>
              <a:path h="8487199" w="12387698">
                <a:moveTo>
                  <a:pt x="0" y="0"/>
                </a:moveTo>
                <a:lnTo>
                  <a:pt x="12387698" y="0"/>
                </a:lnTo>
                <a:lnTo>
                  <a:pt x="12387698" y="8487198"/>
                </a:lnTo>
                <a:lnTo>
                  <a:pt x="0" y="8487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230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Does seller-customer distance correlate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with higher freight ?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3108981"/>
            <a:ext cx="18288000" cy="5131165"/>
          </a:xfrm>
          <a:custGeom>
            <a:avLst/>
            <a:gdLst/>
            <a:ahLst/>
            <a:cxnLst/>
            <a:rect r="r" b="b" t="t" l="l"/>
            <a:pathLst>
              <a:path h="5131165" w="18288000">
                <a:moveTo>
                  <a:pt x="0" y="0"/>
                </a:moveTo>
                <a:lnTo>
                  <a:pt x="18288000" y="0"/>
                </a:lnTo>
                <a:lnTo>
                  <a:pt x="18288000" y="5131166"/>
                </a:lnTo>
                <a:lnTo>
                  <a:pt x="0" y="51311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230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Does seller-customer distance correlate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with higher longer delivery times?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2257376"/>
            <a:ext cx="18288000" cy="7536686"/>
          </a:xfrm>
          <a:custGeom>
            <a:avLst/>
            <a:gdLst/>
            <a:ahLst/>
            <a:cxnLst/>
            <a:rect r="r" b="b" t="t" l="l"/>
            <a:pathLst>
              <a:path h="7536686" w="18288000">
                <a:moveTo>
                  <a:pt x="0" y="0"/>
                </a:moveTo>
                <a:lnTo>
                  <a:pt x="18288000" y="0"/>
                </a:lnTo>
                <a:lnTo>
                  <a:pt x="18288000" y="7536686"/>
                </a:lnTo>
                <a:lnTo>
                  <a:pt x="0" y="7536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78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does delivery performance affec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 customer satisfaction and reviews?</a:t>
            </a:r>
          </a:p>
          <a:p>
            <a:pPr algn="l">
              <a:lnSpc>
                <a:spcPts val="4369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60429" y="1760288"/>
            <a:ext cx="12247503" cy="9199316"/>
          </a:xfrm>
          <a:custGeom>
            <a:avLst/>
            <a:gdLst/>
            <a:ahLst/>
            <a:cxnLst/>
            <a:rect r="r" b="b" t="t" l="l"/>
            <a:pathLst>
              <a:path h="9199316" w="12247503">
                <a:moveTo>
                  <a:pt x="0" y="0"/>
                </a:moveTo>
                <a:lnTo>
                  <a:pt x="12247502" y="0"/>
                </a:lnTo>
                <a:lnTo>
                  <a:pt x="12247502" y="9199316"/>
                </a:lnTo>
                <a:lnTo>
                  <a:pt x="0" y="9199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230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percentage of order cancellations are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due to shipping problems?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2370351"/>
            <a:ext cx="8180180" cy="6887949"/>
          </a:xfrm>
          <a:custGeom>
            <a:avLst/>
            <a:gdLst/>
            <a:ahLst/>
            <a:cxnLst/>
            <a:rect r="r" b="b" t="t" l="l"/>
            <a:pathLst>
              <a:path h="6887949" w="8180180">
                <a:moveTo>
                  <a:pt x="0" y="0"/>
                </a:moveTo>
                <a:lnTo>
                  <a:pt x="8180180" y="0"/>
                </a:lnTo>
                <a:lnTo>
                  <a:pt x="8180180" y="6887949"/>
                </a:lnTo>
                <a:lnTo>
                  <a:pt x="0" y="6887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58200" y="2170013"/>
            <a:ext cx="9659624" cy="7288625"/>
          </a:xfrm>
          <a:custGeom>
            <a:avLst/>
            <a:gdLst/>
            <a:ahLst/>
            <a:cxnLst/>
            <a:rect r="r" b="b" t="t" l="l"/>
            <a:pathLst>
              <a:path h="7288625" w="9659624">
                <a:moveTo>
                  <a:pt x="0" y="0"/>
                </a:moveTo>
                <a:lnTo>
                  <a:pt x="9659624" y="0"/>
                </a:lnTo>
                <a:lnTo>
                  <a:pt x="9659624" y="7288625"/>
                </a:lnTo>
                <a:lnTo>
                  <a:pt x="0" y="728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25552" y="474868"/>
            <a:ext cx="14583512" cy="1230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many cancellations or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complaints relate to late or damaged deliveries?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25552" y="2003939"/>
            <a:ext cx="14514304" cy="8442727"/>
          </a:xfrm>
          <a:custGeom>
            <a:avLst/>
            <a:gdLst/>
            <a:ahLst/>
            <a:cxnLst/>
            <a:rect r="r" b="b" t="t" l="l"/>
            <a:pathLst>
              <a:path h="8442727" w="14514304">
                <a:moveTo>
                  <a:pt x="0" y="0"/>
                </a:moveTo>
                <a:lnTo>
                  <a:pt x="14514305" y="0"/>
                </a:lnTo>
                <a:lnTo>
                  <a:pt x="14514305" y="8442727"/>
                </a:lnTo>
                <a:lnTo>
                  <a:pt x="0" y="8442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474868"/>
            <a:ext cx="14583512" cy="1230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Are there specific sellers w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ith repeated delivery issues (suggesting seller-related problems)?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6288"/>
            <a:ext cx="16138789" cy="1404000"/>
            <a:chOff x="0" y="0"/>
            <a:chExt cx="4192568" cy="36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2568" cy="364734"/>
            </a:xfrm>
            <a:custGeom>
              <a:avLst/>
              <a:gdLst/>
              <a:ahLst/>
              <a:cxnLst/>
              <a:rect r="r" b="b" t="t" l="l"/>
              <a:pathLst>
                <a:path h="364734" w="4192568">
                  <a:moveTo>
                    <a:pt x="24465" y="0"/>
                  </a:moveTo>
                  <a:lnTo>
                    <a:pt x="4168103" y="0"/>
                  </a:lnTo>
                  <a:cubicBezTo>
                    <a:pt x="4174592" y="0"/>
                    <a:pt x="4180814" y="2578"/>
                    <a:pt x="4185402" y="7166"/>
                  </a:cubicBezTo>
                  <a:cubicBezTo>
                    <a:pt x="4189990" y="11754"/>
                    <a:pt x="4192568" y="17977"/>
                    <a:pt x="4192568" y="24465"/>
                  </a:cubicBezTo>
                  <a:lnTo>
                    <a:pt x="4192568" y="340269"/>
                  </a:lnTo>
                  <a:cubicBezTo>
                    <a:pt x="4192568" y="346758"/>
                    <a:pt x="4189990" y="352980"/>
                    <a:pt x="4185402" y="357568"/>
                  </a:cubicBezTo>
                  <a:cubicBezTo>
                    <a:pt x="4180814" y="362157"/>
                    <a:pt x="4174592" y="364734"/>
                    <a:pt x="4168103" y="364734"/>
                  </a:cubicBezTo>
                  <a:lnTo>
                    <a:pt x="24465" y="364734"/>
                  </a:lnTo>
                  <a:cubicBezTo>
                    <a:pt x="17977" y="364734"/>
                    <a:pt x="11754" y="362157"/>
                    <a:pt x="7166" y="357568"/>
                  </a:cubicBezTo>
                  <a:cubicBezTo>
                    <a:pt x="2578" y="352980"/>
                    <a:pt x="0" y="346758"/>
                    <a:pt x="0" y="340269"/>
                  </a:cubicBezTo>
                  <a:lnTo>
                    <a:pt x="0" y="24465"/>
                  </a:lnTo>
                  <a:cubicBezTo>
                    <a:pt x="0" y="17977"/>
                    <a:pt x="2578" y="11754"/>
                    <a:pt x="7166" y="7166"/>
                  </a:cubicBezTo>
                  <a:cubicBezTo>
                    <a:pt x="11754" y="2578"/>
                    <a:pt x="17977" y="0"/>
                    <a:pt x="24465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192568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21208" y="6650050"/>
            <a:ext cx="7593232" cy="7593232"/>
          </a:xfrm>
          <a:custGeom>
            <a:avLst/>
            <a:gdLst/>
            <a:ahLst/>
            <a:cxnLst/>
            <a:rect r="r" b="b" t="t" l="l"/>
            <a:pathLst>
              <a:path h="7593232" w="7593232">
                <a:moveTo>
                  <a:pt x="0" y="0"/>
                </a:moveTo>
                <a:lnTo>
                  <a:pt x="7593232" y="0"/>
                </a:lnTo>
                <a:lnTo>
                  <a:pt x="7593232" y="7593232"/>
                </a:lnTo>
                <a:lnTo>
                  <a:pt x="0" y="759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24521" y="1896617"/>
            <a:ext cx="12585574" cy="8390383"/>
          </a:xfrm>
          <a:custGeom>
            <a:avLst/>
            <a:gdLst/>
            <a:ahLst/>
            <a:cxnLst/>
            <a:rect r="r" b="b" t="t" l="l"/>
            <a:pathLst>
              <a:path h="8390383" w="12585574">
                <a:moveTo>
                  <a:pt x="0" y="0"/>
                </a:moveTo>
                <a:lnTo>
                  <a:pt x="12585574" y="0"/>
                </a:lnTo>
                <a:lnTo>
                  <a:pt x="12585574" y="8390383"/>
                </a:lnTo>
                <a:lnTo>
                  <a:pt x="0" y="8390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5552" y="608218"/>
            <a:ext cx="14583512" cy="67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Are del</a:t>
            </a:r>
            <a:r>
              <a:rPr lang="en-US" sz="39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ayed items is the shipping or seller responsibility?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37923" y="1263557"/>
            <a:ext cx="7041302" cy="7759885"/>
            <a:chOff x="0" y="0"/>
            <a:chExt cx="1069836" cy="1179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2"/>
              <a:stretch>
                <a:fillRect l="-34936" t="0" r="-3493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262812" y="5225964"/>
            <a:ext cx="6401471" cy="5924270"/>
          </a:xfrm>
          <a:custGeom>
            <a:avLst/>
            <a:gdLst/>
            <a:ahLst/>
            <a:cxnLst/>
            <a:rect r="r" b="b" t="t" l="l"/>
            <a:pathLst>
              <a:path h="5924270" w="6401471">
                <a:moveTo>
                  <a:pt x="0" y="0"/>
                </a:moveTo>
                <a:lnTo>
                  <a:pt x="6401471" y="0"/>
                </a:lnTo>
                <a:lnTo>
                  <a:pt x="6401471" y="5924270"/>
                </a:lnTo>
                <a:lnTo>
                  <a:pt x="0" y="59242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346248" y="3210039"/>
            <a:ext cx="8211751" cy="530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Continue working with the current shipping partner</a:t>
            </a:r>
          </a:p>
          <a:p>
            <a:pPr algn="l">
              <a:lnSpc>
                <a:spcPts val="4339"/>
              </a:lnSpc>
            </a:pP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Regularly monitor delivery performance and customer reviews</a:t>
            </a:r>
          </a:p>
          <a:p>
            <a:pPr algn="l">
              <a:lnSpc>
                <a:spcPts val="4339"/>
              </a:lnSpc>
            </a:pP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ML model to predict whether an order is likely to be on time or delayed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48124" y="-2411076"/>
            <a:ext cx="6219749" cy="6219749"/>
          </a:xfrm>
          <a:custGeom>
            <a:avLst/>
            <a:gdLst/>
            <a:ahLst/>
            <a:cxnLst/>
            <a:rect r="r" b="b" t="t" l="l"/>
            <a:pathLst>
              <a:path h="6219749" w="6219749">
                <a:moveTo>
                  <a:pt x="0" y="0"/>
                </a:moveTo>
                <a:lnTo>
                  <a:pt x="6219749" y="0"/>
                </a:lnTo>
                <a:lnTo>
                  <a:pt x="6219749" y="6219749"/>
                </a:lnTo>
                <a:lnTo>
                  <a:pt x="0" y="62197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27399" y="1563296"/>
            <a:ext cx="9171061" cy="1404000"/>
            <a:chOff x="0" y="0"/>
            <a:chExt cx="2382477" cy="3647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2477" cy="364734"/>
            </a:xfrm>
            <a:custGeom>
              <a:avLst/>
              <a:gdLst/>
              <a:ahLst/>
              <a:cxnLst/>
              <a:rect r="r" b="b" t="t" l="l"/>
              <a:pathLst>
                <a:path h="364734" w="2382477">
                  <a:moveTo>
                    <a:pt x="43053" y="0"/>
                  </a:moveTo>
                  <a:lnTo>
                    <a:pt x="2339425" y="0"/>
                  </a:lnTo>
                  <a:cubicBezTo>
                    <a:pt x="2363202" y="0"/>
                    <a:pt x="2382477" y="19275"/>
                    <a:pt x="2382477" y="43053"/>
                  </a:cubicBezTo>
                  <a:lnTo>
                    <a:pt x="2382477" y="321682"/>
                  </a:lnTo>
                  <a:cubicBezTo>
                    <a:pt x="2382477" y="345459"/>
                    <a:pt x="2363202" y="364734"/>
                    <a:pt x="2339425" y="364734"/>
                  </a:cubicBezTo>
                  <a:lnTo>
                    <a:pt x="43053" y="364734"/>
                  </a:lnTo>
                  <a:cubicBezTo>
                    <a:pt x="19275" y="364734"/>
                    <a:pt x="0" y="345459"/>
                    <a:pt x="0" y="321682"/>
                  </a:cubicBezTo>
                  <a:lnTo>
                    <a:pt x="0" y="43053"/>
                  </a:lnTo>
                  <a:cubicBezTo>
                    <a:pt x="0" y="19275"/>
                    <a:pt x="19275" y="0"/>
                    <a:pt x="43053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382477" cy="43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206391" y="1593540"/>
            <a:ext cx="8082128" cy="1204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9"/>
              </a:lnSpc>
            </a:pPr>
            <a:r>
              <a:rPr lang="en-US" sz="707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Recommendation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09016" y="6389587"/>
            <a:ext cx="4851638" cy="4851638"/>
          </a:xfrm>
          <a:custGeom>
            <a:avLst/>
            <a:gdLst/>
            <a:ahLst/>
            <a:cxnLst/>
            <a:rect r="r" b="b" t="t" l="l"/>
            <a:pathLst>
              <a:path h="4851638" w="4851638">
                <a:moveTo>
                  <a:pt x="0" y="0"/>
                </a:moveTo>
                <a:lnTo>
                  <a:pt x="4851637" y="0"/>
                </a:lnTo>
                <a:lnTo>
                  <a:pt x="4851637" y="4851637"/>
                </a:lnTo>
                <a:lnTo>
                  <a:pt x="0" y="4851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556208"/>
            <a:ext cx="7072312" cy="4114800"/>
          </a:xfrm>
          <a:custGeom>
            <a:avLst/>
            <a:gdLst/>
            <a:ahLst/>
            <a:cxnLst/>
            <a:rect r="r" b="b" t="t" l="l"/>
            <a:pathLst>
              <a:path h="4114800" w="7072312">
                <a:moveTo>
                  <a:pt x="0" y="0"/>
                </a:moveTo>
                <a:lnTo>
                  <a:pt x="7072312" y="0"/>
                </a:lnTo>
                <a:lnTo>
                  <a:pt x="70723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370398" y="2594034"/>
            <a:ext cx="12040980" cy="2711051"/>
            <a:chOff x="0" y="0"/>
            <a:chExt cx="3171287" cy="7140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1287" cy="714022"/>
            </a:xfrm>
            <a:custGeom>
              <a:avLst/>
              <a:gdLst/>
              <a:ahLst/>
              <a:cxnLst/>
              <a:rect r="r" b="b" t="t" l="l"/>
              <a:pathLst>
                <a:path h="714022" w="3171287">
                  <a:moveTo>
                    <a:pt x="32791" y="0"/>
                  </a:moveTo>
                  <a:lnTo>
                    <a:pt x="3138496" y="0"/>
                  </a:lnTo>
                  <a:cubicBezTo>
                    <a:pt x="3147192" y="0"/>
                    <a:pt x="3155533" y="3455"/>
                    <a:pt x="3161683" y="9604"/>
                  </a:cubicBezTo>
                  <a:cubicBezTo>
                    <a:pt x="3167832" y="15754"/>
                    <a:pt x="3171287" y="24094"/>
                    <a:pt x="3171287" y="32791"/>
                  </a:cubicBezTo>
                  <a:lnTo>
                    <a:pt x="3171287" y="681230"/>
                  </a:lnTo>
                  <a:cubicBezTo>
                    <a:pt x="3171287" y="689927"/>
                    <a:pt x="3167832" y="698268"/>
                    <a:pt x="3161683" y="704417"/>
                  </a:cubicBezTo>
                  <a:cubicBezTo>
                    <a:pt x="3155533" y="710567"/>
                    <a:pt x="3147192" y="714022"/>
                    <a:pt x="3138496" y="714022"/>
                  </a:cubicBezTo>
                  <a:lnTo>
                    <a:pt x="32791" y="714022"/>
                  </a:lnTo>
                  <a:cubicBezTo>
                    <a:pt x="24094" y="714022"/>
                    <a:pt x="15754" y="710567"/>
                    <a:pt x="9604" y="704417"/>
                  </a:cubicBezTo>
                  <a:cubicBezTo>
                    <a:pt x="3455" y="698268"/>
                    <a:pt x="0" y="689927"/>
                    <a:pt x="0" y="681230"/>
                  </a:cubicBezTo>
                  <a:lnTo>
                    <a:pt x="0" y="32791"/>
                  </a:lnTo>
                  <a:cubicBezTo>
                    <a:pt x="0" y="24094"/>
                    <a:pt x="3455" y="15754"/>
                    <a:pt x="9604" y="9604"/>
                  </a:cubicBezTo>
                  <a:cubicBezTo>
                    <a:pt x="15754" y="3455"/>
                    <a:pt x="24094" y="0"/>
                    <a:pt x="32791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3171287" cy="780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054949" y="1026088"/>
            <a:ext cx="4851638" cy="4851638"/>
          </a:xfrm>
          <a:custGeom>
            <a:avLst/>
            <a:gdLst/>
            <a:ahLst/>
            <a:cxnLst/>
            <a:rect r="r" b="b" t="t" l="l"/>
            <a:pathLst>
              <a:path h="4851638" w="4851638">
                <a:moveTo>
                  <a:pt x="0" y="0"/>
                </a:moveTo>
                <a:lnTo>
                  <a:pt x="4851638" y="0"/>
                </a:lnTo>
                <a:lnTo>
                  <a:pt x="4851638" y="4851638"/>
                </a:lnTo>
                <a:lnTo>
                  <a:pt x="0" y="4851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28617" y="2986911"/>
            <a:ext cx="7430766" cy="18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99"/>
              </a:lnSpc>
            </a:pPr>
            <a:r>
              <a:rPr lang="en-US" sz="11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968238" y="6287375"/>
            <a:ext cx="6025800" cy="3999625"/>
          </a:xfrm>
          <a:custGeom>
            <a:avLst/>
            <a:gdLst/>
            <a:ahLst/>
            <a:cxnLst/>
            <a:rect r="r" b="b" t="t" l="l"/>
            <a:pathLst>
              <a:path h="3999625" w="6025800">
                <a:moveTo>
                  <a:pt x="0" y="0"/>
                </a:moveTo>
                <a:lnTo>
                  <a:pt x="6025800" y="0"/>
                </a:lnTo>
                <a:lnTo>
                  <a:pt x="6025800" y="3999625"/>
                </a:lnTo>
                <a:lnTo>
                  <a:pt x="0" y="3999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DAHXCMk06wk</dc:identifier>
  <dcterms:modified xsi:type="dcterms:W3CDTF">2011-08-01T06:04:30Z</dcterms:modified>
  <cp:revision>1</cp:revision>
  <dc:title>Olist Shipping Company Evaluation</dc:title>
</cp:coreProperties>
</file>